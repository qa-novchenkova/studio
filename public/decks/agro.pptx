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Заходим с боли: разрыв между потенциалом сорта и фактическим урожаем.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Разрыв между потенциалом и фактом — то, за что борется агроном весь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фактор по отдельности кажется терпимым — вместе они съедают треть урожая.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фаза — своё окно вмешательства. Пропустили фазу — вернуть эффект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Программа — не набор препаратов, а календарь решений, привязанный к фазе.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Средняя норма по полю всегда кого-то недокармливает, а кого-то перекармливает.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Правильный препарат в неправильный срок = деньги на ветер.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Считаем не затраты на препараты, а стоимость недобранных центнеров.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Программа — это сопровождение, а не разовая продажа препарата.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призыв разобрать конкретное поле.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field-ro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310128"/>
            <a:ext cx="12191695" cy="35478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3346704"/>
          </a:xfrm>
          <a:prstGeom prst="rect">
            <a:avLst/>
          </a:prstGeom>
          <a:solidFill>
            <a:srgbClr val="0E2A1B"/>
          </a:solidFill>
          <a:ln/>
        </p:spPr>
      </p:sp>
      <p:sp>
        <p:nvSpPr>
          <p:cNvPr id="4" name="Text 1"/>
          <p:cNvSpPr/>
          <p:nvPr/>
        </p:nvSpPr>
        <p:spPr>
          <a:xfrm>
            <a:off x="658368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F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A9B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АГРО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D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ГАЙД ДЛЯ АГРОНОМА · ОЗИМАЯ ПШЕНИЦА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58368" y="1371600"/>
            <a:ext cx="10789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Поле недобирает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658368" y="248716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7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теряются центнеры и как их вернуть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7D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программой защиты и питания по фазам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Сорт обещает больше, чем поле отдаёт</a:t>
            </a:r>
            <a:endParaRPr lang="en-US" sz="3300" dirty="0"/>
          </a:p>
        </p:txBody>
      </p:sp>
      <p:pic>
        <p:nvPicPr>
          <p:cNvPr id="4" name="Image 0" descr="C:\Users\79204\AppData\Local\Temp\claude\D--QQQAAA\1af986dc-9216-4466-ab30-3032c2f138c7\scratchpad\deck\img\ears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600200"/>
            <a:ext cx="5120640" cy="35295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" y="1874520"/>
            <a:ext cx="53949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7E2D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0976" y="2350008"/>
            <a:ext cx="182880" cy="18288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7" name="Text 4"/>
          <p:cNvSpPr/>
          <p:nvPr/>
        </p:nvSpPr>
        <p:spPr>
          <a:xfrm>
            <a:off x="1316736" y="2039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Потенциал сорта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316736" y="24414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ц/га по паспорту при соблюдении технологии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200400"/>
            <a:ext cx="53949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7E2D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0976" y="3675888"/>
            <a:ext cx="182880" cy="18288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1" name="Text 8"/>
          <p:cNvSpPr/>
          <p:nvPr/>
        </p:nvSpPr>
        <p:spPr>
          <a:xfrm>
            <a:off x="1316736" y="3364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Средний факт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1316736" y="37673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48–52 ц/га — типичный результат в хозяйстве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58368" y="4526280"/>
            <a:ext cx="539496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7E2D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50976" y="5001768"/>
            <a:ext cx="182880" cy="182880"/>
          </a:xfrm>
          <a:prstGeom prst="ellipse">
            <a:avLst/>
          </a:prstGeom>
          <a:solidFill>
            <a:srgbClr val="C4562F"/>
          </a:solidFill>
          <a:ln/>
        </p:spPr>
      </p:sp>
      <p:sp>
        <p:nvSpPr>
          <p:cNvPr id="15" name="Text 12"/>
          <p:cNvSpPr/>
          <p:nvPr/>
        </p:nvSpPr>
        <p:spPr>
          <a:xfrm>
            <a:off x="1316736" y="4690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456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Разрыв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1316736" y="50932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18% урожая теряется ещё до уборки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Четыре канала потерь — и все работают одновременно</a:t>
            </a:r>
            <a:endParaRPr lang="en-US" sz="3000" dirty="0"/>
          </a:p>
        </p:txBody>
      </p:sp>
      <p:pic>
        <p:nvPicPr>
          <p:cNvPr id="4" name="Image 0" descr="C:\Users\79204\AppData\Local\Temp\claude\D--QQQAAA\1af986dc-9216-4466-ab30-3032c2f138c7\scratchpad\deck\img\thre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11292840" cy="32735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" y="548640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E4F0DA"/>
          </a:solidFill>
          <a:ln/>
        </p:spPr>
      </p:sp>
      <p:sp>
        <p:nvSpPr>
          <p:cNvPr id="6" name="Text 3"/>
          <p:cNvSpPr/>
          <p:nvPr/>
        </p:nvSpPr>
        <p:spPr>
          <a:xfrm>
            <a:off x="1024128" y="548640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0E2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Потери суммируются: без защиты и питания поле теряет до 30–40% потенциала — даже на хорошем семенном материале.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ФЕНОЛОГИЯ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Урожай закладывается по фазам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ph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74520"/>
            <a:ext cx="11384280" cy="422452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183880" y="1024128"/>
            <a:ext cx="3337560" cy="566928"/>
          </a:xfrm>
          <a:prstGeom prst="roundRect">
            <a:avLst>
              <a:gd name="adj" fmla="val 16129"/>
            </a:avLst>
          </a:prstGeom>
          <a:solidFill>
            <a:srgbClr val="2E7D4F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02412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фаза: колошение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D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СЕЗОНА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и когда делаем на поле</a:t>
            </a:r>
            <a:endParaRPr lang="en-US" sz="3200" dirty="0"/>
          </a:p>
        </p:txBody>
      </p:sp>
      <p:pic>
        <p:nvPicPr>
          <p:cNvPr id="4" name="Image 0" descr="C:\Users\79204\AppData\Local\Temp\claude\D--QQQAAA\1af986dc-9216-4466-ab30-3032c2f138c7\scratchpad\deck\img\program-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783080"/>
            <a:ext cx="11640312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5989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решение привязано к фазе, а не к календарю «как обычно».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ОБСЛЕДОВАНИЕ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Поле неоднородно — и норма тоже</a:t>
            </a:r>
            <a:endParaRPr lang="en-US" sz="3300" dirty="0"/>
          </a:p>
        </p:txBody>
      </p:sp>
      <p:pic>
        <p:nvPicPr>
          <p:cNvPr id="4" name="Image 0" descr="C:\Users\79204\AppData\Local\Temp\claude\D--QQQAAA\1af986dc-9216-4466-ab30-3032c2f138c7\scratchpad\deck\img\field-z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463040"/>
            <a:ext cx="4983480" cy="34381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288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1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389888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Зонируем поле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389888" y="224942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Продуктивные и проблемные участки видны по истории урожайности.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8368" y="312724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1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89888" y="31272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Считаем по зонам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389888" y="354787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 удобрений и защиты — под зону, а не «в среднем по полю».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836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1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389888" y="442569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Проверяем в поле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89888" y="48463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обследования подтверждают: где болезнь, где дефицит.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58368" y="5669280"/>
            <a:ext cx="5394960" cy="640080"/>
          </a:xfrm>
          <a:prstGeom prst="roundRect">
            <a:avLst>
              <a:gd name="adj" fmla="val 14286"/>
            </a:avLst>
          </a:prstGeom>
          <a:solidFill>
            <a:srgbClr val="E4F0DA"/>
          </a:solidFill>
          <a:ln/>
        </p:spPr>
      </p:sp>
      <p:sp>
        <p:nvSpPr>
          <p:cNvPr id="15" name="Text 12"/>
          <p:cNvSpPr/>
          <p:nvPr/>
        </p:nvSpPr>
        <p:spPr>
          <a:xfrm>
            <a:off x="932688" y="56692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2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Дифференцированный подход экономит до 15% на входных ресурсах.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РЕШАЮТ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Окно обработки — 5–7 дней</a:t>
            </a:r>
            <a:endParaRPr lang="en-US" sz="3300" dirty="0"/>
          </a:p>
        </p:txBody>
      </p:sp>
      <p:pic>
        <p:nvPicPr>
          <p:cNvPr id="4" name="Image 0" descr="C:\Users\79204\AppData\Local\Temp\claude\D--QQQAAA\1af986dc-9216-4466-ab30-3032c2f138c7\scratchpad\deck\img\season-a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371600"/>
            <a:ext cx="7772400" cy="39593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92024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−40%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58368" y="25786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эффективности фунгицида при опоздании на неделю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58368" y="33832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×2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58368" y="404164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развития болезни во влажную погоду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58368" y="48463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день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658368" y="550468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мониторинга экономит центнеры на уборке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СЕЗОНА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даёт программа на выходе</a:t>
            </a:r>
            <a:endParaRPr lang="en-US" sz="3300" dirty="0"/>
          </a:p>
        </p:txBody>
      </p:sp>
      <p:pic>
        <p:nvPicPr>
          <p:cNvPr id="4" name="Image 0" descr="C:\Users\79204\AppData\Local\Temp\claude\D--QQQAAA\1af986dc-9216-4466-ab30-3032c2f138c7\scratchpad\deck\img\yield-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600200"/>
            <a:ext cx="5669280" cy="30723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9202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+12 ц/га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58368" y="2615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прибавка к урожайности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3291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−15%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658368" y="39867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затрат на входные ресурсы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8368" y="46634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7D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+2,1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58368" y="53583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 качества зерна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0" y="4937760"/>
            <a:ext cx="5669280" cy="1234440"/>
          </a:xfrm>
          <a:prstGeom prst="roundRect">
            <a:avLst>
              <a:gd name="adj" fmla="val 7407"/>
            </a:avLst>
          </a:prstGeom>
          <a:solidFill>
            <a:srgbClr val="E4F0DA"/>
          </a:solidFill>
          <a:ln/>
        </p:spPr>
      </p:sp>
      <p:sp>
        <p:nvSpPr>
          <p:cNvPr id="12" name="Text 9"/>
          <p:cNvSpPr/>
          <p:nvPr/>
        </p:nvSpPr>
        <p:spPr>
          <a:xfrm>
            <a:off x="6217920" y="493776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2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Прибавка окупает программу защиты уже в первый сезон — при сохранении качества зерна.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 В ПРОГРАММУ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969264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24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Сопровождение поля от сева до уборки</a:t>
            </a:r>
            <a:endParaRPr lang="en-US" sz="3100" dirty="0"/>
          </a:p>
        </p:txBody>
      </p:sp>
      <p:pic>
        <p:nvPicPr>
          <p:cNvPr id="4" name="Image 0" descr="C:\Users\79204\AppData\Local\Temp\claude\D--QQQAAA\1af986dc-9216-4466-ab30-3032c2f138c7\scratchpad\deck\img\tractor-f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691640"/>
            <a:ext cx="5074920" cy="264261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" y="1783080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7E2D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86968" y="1783080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435608" y="178308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почвы и истории поля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" y="2679192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7E2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2679192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435608" y="2679192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зон и нормы по участкам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8368" y="3575304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7E2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6968" y="3575304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435608" y="3575304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обработок по фазам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8368" y="4471416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7E2D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968" y="4471416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435608" y="4471416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Выезд агронома в ключевые фазы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58368" y="5367528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7E2D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86968" y="5367528"/>
            <a:ext cx="457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435608" y="53675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2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по итогам сезона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79204\AppData\Local\Temp\claude\D--QQQAAA\1af986dc-9216-4466-ab30-3032c2f138c7\scratchpad\deck\img\field-ro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566160"/>
            <a:ext cx="12191695" cy="32918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3611880"/>
          </a:xfrm>
          <a:prstGeom prst="rect">
            <a:avLst/>
          </a:prstGeom>
          <a:solidFill>
            <a:srgbClr val="0E2A1B"/>
          </a:solidFill>
          <a:ln/>
        </p:spPr>
      </p:sp>
      <p:sp>
        <p:nvSpPr>
          <p:cNvPr id="4" name="Text 1"/>
          <p:cNvSpPr/>
          <p:nvPr/>
        </p:nvSpPr>
        <p:spPr>
          <a:xfrm>
            <a:off x="658368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FE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indent="0" marL="0">
              <a:buNone/>
            </a:pPr>
            <a:r>
              <a:rPr lang="en-US" sz="1000" dirty="0">
                <a:solidFill>
                  <a:srgbClr val="A9B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АГРО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58368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FD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58368" y="178308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Соберите урожай,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 не проблемы</a:t>
            </a:r>
            <a:endParaRPr lang="en-US" sz="4600" dirty="0"/>
          </a:p>
        </p:txBody>
      </p:sp>
      <p:sp>
        <p:nvSpPr>
          <p:cNvPr id="7" name="Shape 4"/>
          <p:cNvSpPr/>
          <p:nvPr/>
        </p:nvSpPr>
        <p:spPr>
          <a:xfrm>
            <a:off x="658368" y="2880360"/>
            <a:ext cx="3200400" cy="621792"/>
          </a:xfrm>
          <a:prstGeom prst="roundRect">
            <a:avLst>
              <a:gd name="adj" fmla="val 14706"/>
            </a:avLst>
          </a:prstGeom>
          <a:solidFill>
            <a:srgbClr val="2E7D4F"/>
          </a:solidFill>
          <a:ln/>
        </p:spPr>
      </p:sp>
      <p:sp>
        <p:nvSpPr>
          <p:cNvPr id="8" name="Text 5"/>
          <p:cNvSpPr/>
          <p:nvPr/>
        </p:nvSpPr>
        <p:spPr>
          <a:xfrm>
            <a:off x="658368" y="2880360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Разобрать моё поле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087368" y="2880360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Демо-материал портфолио · бренд вымышленный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Поле недобирает — программа защиты и питания по фазам</dc:title>
  <dc:subject>PptxGenJS Presentation</dc:subject>
  <dc:creator>Студия</dc:creator>
  <cp:lastModifiedBy>Студия</cp:lastModifiedBy>
  <cp:revision>1</cp:revision>
  <dcterms:created xsi:type="dcterms:W3CDTF">2026-08-16T18:17:51Z</dcterms:created>
  <dcterms:modified xsi:type="dcterms:W3CDTF">2026-08-16T18:17:51Z</dcterms:modified>
</cp:coreProperties>
</file>