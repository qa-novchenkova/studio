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Тезис: проблема сервиса не в потоке, а в обработке обращений.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цифры: потери, скорость, экономика удержания.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Донат вместо столбцов: сразу виден главный источник потерь.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Показываем всю воронку: до 12% доходят до повторного визита.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метрика, за которую отвечает вся система записи.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Минимальный набор, который убирает потери заявок.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Trend: один ключевой показатель гигантом, остальное — мелко.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Комплект материалов, который закрывает запись и возврат.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призыв разобрать процесс записи в конкретном сервисе.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au-c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2286000"/>
            <a:ext cx="5852160" cy="417972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F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СТУДИЯ</a:t>
            </a:r>
            <a:pPr indent="0" marL="0">
              <a:buNone/>
            </a:pPr>
            <a:r>
              <a:rPr lang="en-US" sz="1000" dirty="0">
                <a:solidFill>
                  <a:srgbClr val="8D9A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АВТОСЕРВИС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3152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F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ГИД ДЛЯ СЕРВИСА И ДЕТЕЙЛИНГА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731520" y="1600200"/>
            <a:ext cx="6583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76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ЗАПИСЬ</a:t>
            </a:r>
            <a:endParaRPr lang="en-US" sz="76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6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ХАОСА</a:t>
            </a:r>
            <a:endParaRPr lang="en-US" sz="7600" dirty="0"/>
          </a:p>
        </p:txBody>
      </p:sp>
      <p:sp>
        <p:nvSpPr>
          <p:cNvPr id="6" name="Text 3"/>
          <p:cNvSpPr/>
          <p:nvPr/>
        </p:nvSpPr>
        <p:spPr>
          <a:xfrm>
            <a:off x="731520" y="470916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A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перестать терять заявки между телефоном, мессенджерами и журналом на стойке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F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ПРОБЛЕМА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4300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8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 ЖИВЁТ 15 МИНУТ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AC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Дальше клиент звонит следующему сервису из поиска.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3332378" cy="265176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8D9AAB">
                <a:alpha val="3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3383280"/>
            <a:ext cx="26008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FF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1097280" y="4480560"/>
            <a:ext cx="26008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2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обращений остаются без ответа в час пик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29658" y="3063240"/>
            <a:ext cx="3332378" cy="265176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8D9AAB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95418" y="3383280"/>
            <a:ext cx="26008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2F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ч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4795418" y="4480560"/>
            <a:ext cx="26008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2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средняя скорость ответа по рынку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3063240"/>
            <a:ext cx="3332378" cy="2651760"/>
          </a:xfrm>
          <a:prstGeom prst="roundRect">
            <a:avLst>
              <a:gd name="adj" fmla="val 551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8D9AAB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93557" y="3383280"/>
            <a:ext cx="26008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2BB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×5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8493557" y="4480560"/>
            <a:ext cx="26008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2E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дороже привлечь нового, чем вернуть клиента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2F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ДИАГНОСТИКА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43000"/>
            <a:ext cx="5120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spc="-100" kern="0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УХОДЯТ</a:t>
            </a:r>
            <a:endParaRPr lang="en-US" sz="4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400" b="1" spc="-100" kern="0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ОБРАЩЕНИЯ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C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Считаем не рекламу, а путь заявки внутри сервиса: где именно она обрывается.</a:t>
            </a:r>
            <a:endParaRPr lang="en-US" sz="1550" dirty="0"/>
          </a:p>
        </p:txBody>
      </p:sp>
      <p:pic>
        <p:nvPicPr>
          <p:cNvPr id="5" name="Image 0" descr="C:\Users\79204\AppData\Local\Temp\claude\D--QQQAAA\1af986dc-9216-4466-ab30-3032c2f138c7\scratchpad\deck\img\au-don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234440"/>
            <a:ext cx="5120640" cy="4198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2F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ВОРОНКА СЕРВИСА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4300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spc="-100" kern="0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ЗВОНКА</a:t>
            </a:r>
            <a:endParaRPr lang="en-US" sz="4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000" b="1" spc="-100" kern="0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ПОВТОРНОГО ВИЗИТА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3118104"/>
            <a:ext cx="274320" cy="274320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3063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за 15 минут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88720" y="34472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Клиент ещё выбирает — и выбирает того, кто ответил.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31520" y="4261104"/>
            <a:ext cx="274320" cy="274320"/>
          </a:xfrm>
          <a:prstGeom prst="ellipse">
            <a:avLst/>
          </a:prstGeom>
          <a:solidFill>
            <a:srgbClr val="FF7A1A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206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Запись без звонка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188720" y="45902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Свободные окна видно онлайн, бронь в два касания.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31520" y="5404104"/>
            <a:ext cx="274320" cy="274320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53492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Возврат на ТО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188720" y="57332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Напоминание за неделю — и машина снова у вас.</a:t>
            </a:r>
            <a:endParaRPr lang="en-US" sz="1450" dirty="0"/>
          </a:p>
        </p:txBody>
      </p:sp>
      <p:pic>
        <p:nvPicPr>
          <p:cNvPr id="13" name="Image 0" descr="C:\Users\79204\AppData\Local\Temp\claude\D--QQQAAA\1af986dc-9216-4466-ab30-3032c2f138c7\scratchpad\deck\img\au-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371600"/>
            <a:ext cx="4206240" cy="36457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F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СКОРОСТЬ РЕШАЕТ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4300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200" b="1" spc="-100" kern="0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ОТВЕТ —</a:t>
            </a:r>
            <a:endParaRPr lang="en-US" sz="4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200" b="1" spc="-100" kern="0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 МЕТРИКА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32461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C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Сервис, который отвечает за 15 минут, забирает клиента у того, кто перезвонит завтра.</a:t>
            </a:r>
            <a:endParaRPr lang="en-US" sz="1550" dirty="0"/>
          </a:p>
        </p:txBody>
      </p:sp>
      <p:pic>
        <p:nvPicPr>
          <p:cNvPr id="5" name="Image 0" descr="C:\Users\79204\AppData\Local\Temp\claude\D--QQQAAA\1af986dc-9216-4466-ab30-3032c2f138c7\scratchpad\deck\img\au-gau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874520"/>
            <a:ext cx="5486400" cy="33915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F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ЧТО ВНЕДРЯЕМ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4300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ВЕЩИ, КОТОРЫЕ ЗАКРЫВАЮТ ХАОС</a:t>
            </a:r>
            <a:endParaRPr lang="en-US" sz="4000" dirty="0"/>
          </a:p>
        </p:txBody>
      </p:sp>
      <p:pic>
        <p:nvPicPr>
          <p:cNvPr id="4" name="Image 0" descr="C:\Users\79204\AppData\Local\Temp\claude\D--QQQAAA\1af986dc-9216-4466-ab30-3032c2f138c7\scratchpad\deck\img\au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71800"/>
            <a:ext cx="11091672" cy="32205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2F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РЕЗУЛЬТАТ ЗА 3 МЕСЯЦА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spc="-400" kern="0" dirty="0">
                <a:solidFill>
                  <a:srgbClr val="2F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+34%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731520" y="37947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216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записей на сервис — без роста рекламного бюджета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0" y="1737360"/>
            <a:ext cx="4709160" cy="1143000"/>
          </a:xfrm>
          <a:prstGeom prst="roundRect">
            <a:avLst>
              <a:gd name="adj" fmla="val 12800"/>
            </a:avLst>
          </a:prstGeom>
          <a:solidFill>
            <a:srgbClr val="12161D">
              <a:alpha val="4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18745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мин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052560" y="1874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среднее время ответа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766560" y="3154680"/>
            <a:ext cx="4709160" cy="1143000"/>
          </a:xfrm>
          <a:prstGeom prst="roundRect">
            <a:avLst>
              <a:gd name="adj" fmla="val 12800"/>
            </a:avLst>
          </a:prstGeom>
          <a:solidFill>
            <a:srgbClr val="12161D">
              <a:alpha val="4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0" y="32918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052560" y="3291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повторных визитов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66560" y="4572000"/>
            <a:ext cx="4709160" cy="1143000"/>
          </a:xfrm>
          <a:prstGeom prst="roundRect">
            <a:avLst>
              <a:gd name="adj" fmla="val 12800"/>
            </a:avLst>
          </a:prstGeom>
          <a:solidFill>
            <a:srgbClr val="12161D">
              <a:alpha val="4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4709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052560" y="4709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пустых окон в графике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2F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ЧТО ВХОДИТ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14300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spc="-100" kern="0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ДЛЯ СЕРВИСА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2880360"/>
            <a:ext cx="5181448" cy="1417320"/>
          </a:xfrm>
          <a:prstGeom prst="roundRect">
            <a:avLst>
              <a:gd name="adj" fmla="val 9032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11680" y="3154680"/>
            <a:ext cx="3535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Страница записи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011680" y="3575304"/>
            <a:ext cx="353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услуги, цены и свободные окна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78728" y="2880360"/>
            <a:ext cx="5181448" cy="1417320"/>
          </a:xfrm>
          <a:prstGeom prst="roundRect">
            <a:avLst>
              <a:gd name="adj" fmla="val 9032"/>
            </a:avLst>
          </a:prstGeom>
          <a:solidFill>
            <a:srgbClr val="F2F5F9"/>
          </a:solidFill>
          <a:ln/>
        </p:spPr>
      </p:sp>
      <p:sp>
        <p:nvSpPr>
          <p:cNvPr id="9" name="Text 7"/>
          <p:cNvSpPr/>
          <p:nvPr/>
        </p:nvSpPr>
        <p:spPr>
          <a:xfrm>
            <a:off x="6644488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558888" y="3154680"/>
            <a:ext cx="3535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Скрипты ответа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558888" y="3575304"/>
            <a:ext cx="353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шаблоны для звонков и переписки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31520" y="4572000"/>
            <a:ext cx="5181448" cy="1417320"/>
          </a:xfrm>
          <a:prstGeom prst="roundRect">
            <a:avLst>
              <a:gd name="adj" fmla="val 9032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846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B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011680" y="4846320"/>
            <a:ext cx="3535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 напоминаний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011680" y="5266944"/>
            <a:ext cx="353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ТО, сезонная замена, страховка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78728" y="4572000"/>
            <a:ext cx="5181448" cy="1417320"/>
          </a:xfrm>
          <a:prstGeom prst="roundRect">
            <a:avLst>
              <a:gd name="adj" fmla="val 9032"/>
            </a:avLst>
          </a:prstGeom>
          <a:solidFill>
            <a:srgbClr val="F2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6644488" y="4846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D9A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558888" y="4846320"/>
            <a:ext cx="3535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6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промо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558888" y="5266944"/>
            <a:ext cx="353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6B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баннеры и посты под акции сервиса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au-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57600"/>
            <a:ext cx="12191695" cy="3200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3675888"/>
          </a:xfrm>
          <a:prstGeom prst="rect">
            <a:avLst/>
          </a:prstGeom>
          <a:solidFill>
            <a:srgbClr val="12161D"/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F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СТУДИЯ</a:t>
            </a:r>
            <a:pPr indent="0" marL="0">
              <a:buNone/>
            </a:pPr>
            <a:r>
              <a:rPr lang="en-US" sz="1000" dirty="0">
                <a:solidFill>
                  <a:srgbClr val="8D9A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АВТОСЕРВИС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3152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F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СЛЕДУЮЩИЙ ШАГ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" y="1627632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5000" b="1" spc="-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ЗАБИРАЙТЕ ЗАЯВКИ</a:t>
            </a:r>
            <a:endParaRPr lang="en-US" sz="5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000" b="1" spc="-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ПЕРВЫМИ</a:t>
            </a:r>
            <a:endParaRPr lang="en-US" sz="5000" dirty="0"/>
          </a:p>
        </p:txBody>
      </p:sp>
      <p:sp>
        <p:nvSpPr>
          <p:cNvPr id="7" name="Shape 4"/>
          <p:cNvSpPr/>
          <p:nvPr/>
        </p:nvSpPr>
        <p:spPr>
          <a:xfrm>
            <a:off x="8321040" y="1975104"/>
            <a:ext cx="3200400" cy="713232"/>
          </a:xfrm>
          <a:prstGeom prst="roundRect">
            <a:avLst>
              <a:gd name="adj" fmla="val 17949"/>
            </a:avLst>
          </a:prstGeom>
          <a:solidFill>
            <a:srgbClr val="FF7A1A"/>
          </a:solidFill>
          <a:ln/>
        </p:spPr>
      </p:sp>
      <p:sp>
        <p:nvSpPr>
          <p:cNvPr id="8" name="Text 5"/>
          <p:cNvSpPr/>
          <p:nvPr/>
        </p:nvSpPr>
        <p:spPr>
          <a:xfrm>
            <a:off x="8321040" y="1975104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Разобрать мою запись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321040" y="27797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D9A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Демо-материал портфолио · бренд вымышленный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Запись без хаоса</dc:title>
  <dc:subject>PptxGenJS Presentation</dc:subject>
  <dc:creator>Студия</dc:creator>
  <cp:lastModifiedBy>Студия</cp:lastModifiedBy>
  <cp:revision>1</cp:revision>
  <dcterms:created xsi:type="dcterms:W3CDTF">2026-08-17T13:44:12Z</dcterms:created>
  <dcterms:modified xsi:type="dcterms:W3CDTF">2026-08-17T13:44:12Z</dcterms:modified>
</cp:coreProperties>
</file>