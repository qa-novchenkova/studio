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Заходим не с «сделайте рекламу», а с того, что меню — главный продавец в зале.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цифры, которые меняют оптику владельца: скорость выбора, цена возврата, рост чека.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рабочий инструмент: не «нравится/не нравится», а два измеримых показателя.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Показываем на примере: подача, название, описание, цена, бейдж.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не в потоке вообще, а в его неравномерности.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Скидка обесценивает продукт, повод — повышает ценность.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Возврат гостя дешевле привлечения в разы — на этом и строим маркетинг.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аргумент: рост чека без повышения цен.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Комплект, с которым можно выйти в зал уже на следующей неделе.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призыв разобрать конкретное меню.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ho-table-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00"/>
            <a:ext cx="12191695" cy="3200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3675888"/>
          </a:xfrm>
          <a:prstGeom prst="rect">
            <a:avLst/>
          </a:prstGeom>
          <a:solidFill>
            <a:srgbClr val="2A1620"/>
          </a:solidFill>
          <a:ln/>
        </p:spPr>
      </p:sp>
      <p:sp>
        <p:nvSpPr>
          <p:cNvPr id="4" name="Text 1"/>
          <p:cNvSpPr/>
          <p:nvPr/>
        </p:nvSpPr>
        <p:spPr>
          <a:xfrm>
            <a:off x="658368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D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C9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HORECA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 ДЛЯ КАФЕ И РЕСТОРАНОВ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58368" y="13716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Меню, которое продаёт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658368" y="248716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поднять средний чек и заполнить будни,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трогая цены в прайсе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Гость решает быстрее, чем вы успеваете предложить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381146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651760"/>
            <a:ext cx="27410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0A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15–30 сек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78408" y="3886200"/>
            <a:ext cx="27410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столько гость смотрит меню или витрину доставки, прежде чем выбрать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5274" y="2286000"/>
            <a:ext cx="3381146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25314" y="2651760"/>
            <a:ext cx="27410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×5–25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725314" y="3886200"/>
            <a:ext cx="27410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 столько раз дороже привести нового гостя, чем вернуть прежнего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2181" y="2286000"/>
            <a:ext cx="3381146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2221" y="2651760"/>
            <a:ext cx="27410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0A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+8%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472221" y="3886200"/>
            <a:ext cx="27410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растёт за счёт среднего чека, а не за счёт потока гостей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рычаг роста — не скидка, а то, как устроено меню и что возвращает гостя.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ИНЖЕНЕРИЯ МЕНЮ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Каждое блюдо попадает в один из четырёх квадратов</a:t>
            </a:r>
            <a:endParaRPr lang="en-US" sz="3000" dirty="0"/>
          </a:p>
        </p:txBody>
      </p:sp>
      <p:pic>
        <p:nvPicPr>
          <p:cNvPr id="4" name="Image 0" descr="C:\Users\79204\AppData\Local\Temp\claude\D--QQQAAA\1af986dc-9216-4466-ab30-3032c2f138c7\scratchpad\deck\img\ho-menu-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1691640"/>
            <a:ext cx="6035040" cy="3877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58064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Разложите позиции по популярности и марже — и станет видно, что двигать в топ, что переписать, а что убрать.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УСТРОЕНА ПРОДАЮЩАЯ ПОЗИЦИЯ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Блюдо продаёт описание, а не строчка в списке</a:t>
            </a:r>
            <a:endParaRPr lang="en-US" sz="3000" dirty="0"/>
          </a:p>
        </p:txBody>
      </p:sp>
      <p:pic>
        <p:nvPicPr>
          <p:cNvPr id="4" name="Image 0" descr="C:\Users\79204\AppData\Local\Temp\claude\D--QQQAAA\1af986dc-9216-4466-ab30-3032c2f138c7\scratchpad\deck\img\ho-dish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783080"/>
            <a:ext cx="685800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ЗАЛА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Выходные кормят, будни съедают прибыль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ho-week-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37360"/>
            <a:ext cx="11155680" cy="4672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 С БУДНЯМИ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Гостю нужен повод, а не скидка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011680"/>
            <a:ext cx="5231740" cy="1645920"/>
          </a:xfrm>
          <a:prstGeom prst="roundRect">
            <a:avLst>
              <a:gd name="adj" fmla="val 7778"/>
            </a:avLst>
          </a:prstGeom>
          <a:solidFill>
            <a:srgbClr val="3A2029"/>
          </a:solidFill>
          <a:ln w="12700">
            <a:solidFill>
              <a:srgbClr val="4A2E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395728"/>
            <a:ext cx="201168" cy="201168"/>
          </a:xfrm>
          <a:prstGeom prst="ellipse">
            <a:avLst/>
          </a:prstGeom>
          <a:solidFill>
            <a:srgbClr val="E0A100"/>
          </a:solidFill>
          <a:ln/>
        </p:spPr>
      </p:sp>
      <p:sp>
        <p:nvSpPr>
          <p:cNvPr id="6" name="Text 4"/>
          <p:cNvSpPr/>
          <p:nvPr/>
        </p:nvSpPr>
        <p:spPr>
          <a:xfrm>
            <a:off x="1344168" y="2267712"/>
            <a:ext cx="42259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Бизнес-ланч с характером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44168" y="2706624"/>
            <a:ext cx="422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C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«дёшево», а быстро и вкусно: фикс-меню на 3 позиции.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01588" y="2011680"/>
            <a:ext cx="5231740" cy="1645920"/>
          </a:xfrm>
          <a:prstGeom prst="roundRect">
            <a:avLst>
              <a:gd name="adj" fmla="val 7778"/>
            </a:avLst>
          </a:prstGeom>
          <a:solidFill>
            <a:srgbClr val="3A2029"/>
          </a:solidFill>
          <a:ln w="12700">
            <a:solidFill>
              <a:srgbClr val="4A2E3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1628" y="2395728"/>
            <a:ext cx="201168" cy="201168"/>
          </a:xfrm>
          <a:prstGeom prst="ellipse">
            <a:avLst/>
          </a:prstGeom>
          <a:solidFill>
            <a:srgbClr val="E0A100"/>
          </a:solidFill>
          <a:ln/>
        </p:spPr>
      </p:sp>
      <p:sp>
        <p:nvSpPr>
          <p:cNvPr id="10" name="Text 8"/>
          <p:cNvSpPr/>
          <p:nvPr/>
        </p:nvSpPr>
        <p:spPr>
          <a:xfrm>
            <a:off x="6987388" y="2267712"/>
            <a:ext cx="42259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Тематический вечер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987388" y="2706624"/>
            <a:ext cx="422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C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вечер недели — свой формат: винный, семейный, тихий.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58368" y="3931920"/>
            <a:ext cx="5231740" cy="1645920"/>
          </a:xfrm>
          <a:prstGeom prst="roundRect">
            <a:avLst>
              <a:gd name="adj" fmla="val 7778"/>
            </a:avLst>
          </a:prstGeom>
          <a:solidFill>
            <a:srgbClr val="3A2029"/>
          </a:solidFill>
          <a:ln w="12700">
            <a:solidFill>
              <a:srgbClr val="4A2E3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8408" y="4315968"/>
            <a:ext cx="201168" cy="201168"/>
          </a:xfrm>
          <a:prstGeom prst="ellipse">
            <a:avLst/>
          </a:prstGeom>
          <a:solidFill>
            <a:srgbClr val="E0A100"/>
          </a:solidFill>
          <a:ln/>
        </p:spPr>
      </p:sp>
      <p:sp>
        <p:nvSpPr>
          <p:cNvPr id="14" name="Text 12"/>
          <p:cNvSpPr/>
          <p:nvPr/>
        </p:nvSpPr>
        <p:spPr>
          <a:xfrm>
            <a:off x="1344168" y="4187952"/>
            <a:ext cx="42259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Сезонное спецпредложение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44168" y="4626864"/>
            <a:ext cx="422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C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Ограниченное по времени меню — причина прийти именно сейчас.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01588" y="3931920"/>
            <a:ext cx="5231740" cy="1645920"/>
          </a:xfrm>
          <a:prstGeom prst="roundRect">
            <a:avLst>
              <a:gd name="adj" fmla="val 7778"/>
            </a:avLst>
          </a:prstGeom>
          <a:solidFill>
            <a:srgbClr val="3A2029"/>
          </a:solidFill>
          <a:ln w="12700">
            <a:solidFill>
              <a:srgbClr val="4A2E3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1628" y="4315968"/>
            <a:ext cx="201168" cy="201168"/>
          </a:xfrm>
          <a:prstGeom prst="ellipse">
            <a:avLst/>
          </a:prstGeom>
          <a:solidFill>
            <a:srgbClr val="E0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987388" y="4187952"/>
            <a:ext cx="42259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Программа возврата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987388" y="4626864"/>
            <a:ext cx="422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C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Персональный повод: любимое блюдо, бонус ко второму визиту.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ВОЗВРАТА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Прибыль живёт во втором визите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ho-retur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463040"/>
            <a:ext cx="5120640" cy="39867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745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435608" y="1874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Впечатление сильнее блюда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435608" y="22951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Гость запоминает атмосферу и сервис — их и пересказывает друзьям.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8368" y="3246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435608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Повод вернуться создаём сами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435608" y="36667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Сезонное меню, событие, персональное предложение после визита.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8368" y="46177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435608" y="4617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Считаем частоту, а не охваты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435608" y="50383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метрики — возврат гостя, частота визитов и средний чек.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меняется после работы с меню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8105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чек растёт за счёт структуры меню и допозиций, а не повышения цен.</a:t>
            </a:r>
            <a:endParaRPr lang="en-US" sz="1400" dirty="0"/>
          </a:p>
        </p:txBody>
      </p:sp>
      <p:pic>
        <p:nvPicPr>
          <p:cNvPr id="5" name="Image 0" descr="C:\Users\79204\AppData\Local\Temp\claude\D--QQQAAA\1af986dc-9216-4466-ab30-3032c2f138c7\scratchpad\deck\img\ho-check-grow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536192"/>
            <a:ext cx="5669280" cy="31912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25146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+27%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58368" y="3209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среднему чеку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8368" y="3886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+40%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58368" y="45811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в будни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52578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×2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658368" y="59527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частота повторных визитов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943600" y="4983480"/>
            <a:ext cx="5669280" cy="1143000"/>
          </a:xfrm>
          <a:prstGeom prst="roundRect">
            <a:avLst>
              <a:gd name="adj" fmla="val 9600"/>
            </a:avLst>
          </a:prstGeom>
          <a:solidFill>
            <a:srgbClr val="FBEBD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0" y="4983480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в прайсе остались прежними — изменились структура меню, описания и поводы вернуться.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 В РАБОТУ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A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аудита меню до готовых материалов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10874959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78308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B7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35608" y="178308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меню: матрица позиций по марже и спросу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58368" y="2679192"/>
            <a:ext cx="10874959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679192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B7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35608" y="2679192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Переписанные описания блюд и названия разделов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58368" y="3575304"/>
            <a:ext cx="10874959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575304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B7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35608" y="3575304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Дизайн-макет меню для зала и доставки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58368" y="4471416"/>
            <a:ext cx="10874959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4471416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B7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35608" y="4471416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поводов на будни и сезон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58368" y="5367528"/>
            <a:ext cx="10874959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536752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B7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35608" y="5367528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A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 постов и баннеров под спецпредложения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ho-table-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00"/>
            <a:ext cx="12191695" cy="3200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3675888"/>
          </a:xfrm>
          <a:prstGeom prst="rect">
            <a:avLst/>
          </a:prstGeom>
          <a:solidFill>
            <a:srgbClr val="2A1620"/>
          </a:solidFill>
          <a:ln/>
        </p:spPr>
      </p:sp>
      <p:sp>
        <p:nvSpPr>
          <p:cNvPr id="4" name="Text 1"/>
          <p:cNvSpPr/>
          <p:nvPr/>
        </p:nvSpPr>
        <p:spPr>
          <a:xfrm>
            <a:off x="658368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D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C9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HORECA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58368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58368" y="1664208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Пусть меню работает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 вас каждый вечер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8138160" y="1975104"/>
            <a:ext cx="3383280" cy="694944"/>
          </a:xfrm>
          <a:prstGeom prst="roundRect">
            <a:avLst>
              <a:gd name="adj" fmla="val 15789"/>
            </a:avLst>
          </a:prstGeom>
          <a:solidFill>
            <a:srgbClr val="D5283A"/>
          </a:solidFill>
          <a:ln/>
        </p:spPr>
      </p:sp>
      <p:sp>
        <p:nvSpPr>
          <p:cNvPr id="8" name="Text 5"/>
          <p:cNvSpPr/>
          <p:nvPr/>
        </p:nvSpPr>
        <p:spPr>
          <a:xfrm>
            <a:off x="8138160" y="1975104"/>
            <a:ext cx="3383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 моё меню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38160" y="27614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Демо-материал портфолио · бренд вымышленный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Меню, которое продаёт</dc:title>
  <dc:subject>PptxGenJS Presentation</dc:subject>
  <dc:creator>Студия</dc:creator>
  <cp:lastModifiedBy>Студия</cp:lastModifiedBy>
  <cp:revision>1</cp:revision>
  <dcterms:created xsi:type="dcterms:W3CDTF">2026-08-17T12:27:01Z</dcterms:created>
  <dcterms:modified xsi:type="dcterms:W3CDTF">2026-08-17T12:27:01Z</dcterms:modified>
</cp:coreProperties>
</file>