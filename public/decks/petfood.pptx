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16151C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16151C"/>
                </a:solidFill>
                <a:latin typeface="Calibri"/>
              </a:rPr>
              <a:t>Повторные покупки, %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Повторные покупки, %</c:v>
                </c:pt>
              </c:strCache>
            </c:strRef>
          </c:tx>
          <c:spPr>
            <a:solidFill>
              <a:srgbClr val="C9C7D2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400" u="none">
                    <a:solidFill>
                      <a:srgbClr val="16151C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9C7D2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86A1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Было</c:v>
                  </c:pt>
                  <c:pt idx="1">
                    <c:v>Стало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20</c:v>
                </c:pt>
                <c:pt idx="1">
                  <c:v>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400" u="none">
                  <a:solidFill>
                    <a:srgbClr val="16151C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6B6976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286000"/>
            <a:ext cx="219456" cy="219456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algn="l" indent="0" marL="0">
              <a:buNone/>
            </a:pPr>
            <a:r>
              <a:rPr lang="en-US" sz="10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Корма для животных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26974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 ЗООТОВАРОВ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2971800"/>
            <a:ext cx="10515600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Здоровье</a:t>
            </a:r>
            <a:endParaRPr lang="en-US" sz="5200" dirty="0"/>
          </a:p>
          <a:p>
            <a:pPr algn="l"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 миске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640080" y="585216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Маркетинг-контент под нишу «Корма для животных»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ПРОБЛЕМА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Где ниша теряет деньги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6A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60%</a:t>
            </a:r>
            <a:endParaRPr lang="en-US" sz="5200" dirty="0"/>
          </a:p>
        </p:txBody>
      </p:sp>
      <p:sp>
        <p:nvSpPr>
          <p:cNvPr id="6" name="Text 4"/>
          <p:cNvSpPr/>
          <p:nvPr/>
        </p:nvSpPr>
        <p:spPr>
          <a:xfrm>
            <a:off x="960120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владельцев смотрят на состав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4399178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719218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6A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редко</a:t>
            </a:r>
            <a:endParaRPr lang="en-US" sz="5200" dirty="0"/>
          </a:p>
        </p:txBody>
      </p:sp>
      <p:sp>
        <p:nvSpPr>
          <p:cNvPr id="9" name="Text 7"/>
          <p:cNvSpPr/>
          <p:nvPr/>
        </p:nvSpPr>
        <p:spPr>
          <a:xfrm>
            <a:off x="4719218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возвращаются без напоминаний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158277" y="2651760"/>
            <a:ext cx="3393338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478317" y="3017520"/>
            <a:ext cx="2753258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E86A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ниже</a:t>
            </a:r>
            <a:endParaRPr lang="en-US" sz="5200" dirty="0"/>
          </a:p>
        </p:txBody>
      </p:sp>
      <p:sp>
        <p:nvSpPr>
          <p:cNvPr id="12" name="Text 10"/>
          <p:cNvSpPr/>
          <p:nvPr/>
        </p:nvSpPr>
        <p:spPr>
          <a:xfrm>
            <a:off x="8478317" y="4297680"/>
            <a:ext cx="275325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доверие без экспертного контента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БЕСПОКОИТ КЛИЕНТА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1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Барьеры, которые мешают продавать</a:t>
            </a:r>
            <a:endParaRPr lang="en-US" sz="3100" dirty="0"/>
          </a:p>
        </p:txBody>
      </p:sp>
      <p:sp>
        <p:nvSpPr>
          <p:cNvPr id="4" name="Shape 2"/>
          <p:cNvSpPr/>
          <p:nvPr/>
        </p:nvSpPr>
        <p:spPr>
          <a:xfrm>
            <a:off x="640080" y="2487168"/>
            <a:ext cx="182880" cy="182880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5" name="Text 3"/>
          <p:cNvSpPr/>
          <p:nvPr/>
        </p:nvSpPr>
        <p:spPr>
          <a:xfrm>
            <a:off x="1097280" y="2331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Непонятный состав</a:t>
            </a:r>
            <a:endParaRPr lang="en-US" sz="1900" dirty="0"/>
          </a:p>
        </p:txBody>
      </p:sp>
      <p:sp>
        <p:nvSpPr>
          <p:cNvPr id="6" name="Text 4"/>
          <p:cNvSpPr/>
          <p:nvPr/>
        </p:nvSpPr>
        <p:spPr>
          <a:xfrm>
            <a:off x="1097280" y="2761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Покупатель не видит пользы корма.</a:t>
            </a:r>
            <a:endParaRPr lang="en-US" sz="1450" dirty="0"/>
          </a:p>
        </p:txBody>
      </p:sp>
      <p:sp>
        <p:nvSpPr>
          <p:cNvPr id="7" name="Shape 5"/>
          <p:cNvSpPr/>
          <p:nvPr/>
        </p:nvSpPr>
        <p:spPr>
          <a:xfrm>
            <a:off x="640080" y="3630168"/>
            <a:ext cx="182880" cy="182880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3474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Разовые покупки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1097280" y="3904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Никто не напоминает докупить вовремя.</a:t>
            </a:r>
            <a:endParaRPr lang="en-US" sz="1450" dirty="0"/>
          </a:p>
        </p:txBody>
      </p:sp>
      <p:sp>
        <p:nvSpPr>
          <p:cNvPr id="10" name="Shape 8"/>
          <p:cNvSpPr/>
          <p:nvPr/>
        </p:nvSpPr>
        <p:spPr>
          <a:xfrm>
            <a:off x="640080" y="4773168"/>
            <a:ext cx="182880" cy="182880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11" name="Text 9"/>
          <p:cNvSpPr/>
          <p:nvPr/>
        </p:nvSpPr>
        <p:spPr>
          <a:xfrm>
            <a:off x="1097280" y="4617720"/>
            <a:ext cx="10058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Нет заботы</a:t>
            </a:r>
            <a:endParaRPr lang="en-US" sz="1900" dirty="0"/>
          </a:p>
        </p:txBody>
      </p:sp>
      <p:sp>
        <p:nvSpPr>
          <p:cNvPr id="12" name="Text 10"/>
          <p:cNvSpPr/>
          <p:nvPr/>
        </p:nvSpPr>
        <p:spPr>
          <a:xfrm>
            <a:off x="1097280" y="5047488"/>
            <a:ext cx="10058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6B697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Бренд не общается с владельцем питомца.</a:t>
            </a:r>
            <a:endParaRPr lang="en-US" sz="14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НАШ ПОДХОД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Три шага к потоку заявок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0120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960120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Экспертность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960120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Контент о питании, составе и пользе.</a:t>
            </a:r>
            <a:endParaRPr lang="en-US" sz="1450" dirty="0"/>
          </a:p>
        </p:txBody>
      </p:sp>
      <p:sp>
        <p:nvSpPr>
          <p:cNvPr id="8" name="Shape 6"/>
          <p:cNvSpPr/>
          <p:nvPr/>
        </p:nvSpPr>
        <p:spPr>
          <a:xfrm>
            <a:off x="4399178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719218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719218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Забота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4719218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Чек-листы и советы для владельцев.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158277" y="2651760"/>
            <a:ext cx="3393338" cy="2834640"/>
          </a:xfrm>
          <a:prstGeom prst="roundRect">
            <a:avLst>
              <a:gd name="adj" fmla="val 3871"/>
            </a:avLst>
          </a:prstGeom>
          <a:solidFill>
            <a:srgbClr val="1B1D27"/>
          </a:solidFill>
          <a:ln w="12700">
            <a:solidFill>
              <a:srgbClr val="2C2E3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78317" y="2926080"/>
            <a:ext cx="275325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478317" y="3337560"/>
            <a:ext cx="275325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Возврат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8478317" y="4023360"/>
            <a:ext cx="2753258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Напоминания и подписка на корм.</a:t>
            </a:r>
            <a:endParaRPr lang="en-US" sz="14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ДЕЛАЕМ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Форматы контента для ниши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640080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32688" y="2880360"/>
            <a:ext cx="146304" cy="146304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6" name="Text 4"/>
          <p:cNvSpPr/>
          <p:nvPr/>
        </p:nvSpPr>
        <p:spPr>
          <a:xfrm>
            <a:off x="1207008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Лендинг бренда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399178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691786" y="2880360"/>
            <a:ext cx="146304" cy="146304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9" name="Text 7"/>
          <p:cNvSpPr/>
          <p:nvPr/>
        </p:nvSpPr>
        <p:spPr>
          <a:xfrm>
            <a:off x="4966106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Карточки кормов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8158277" y="23774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8450885" y="2880360"/>
            <a:ext cx="146304" cy="146304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12" name="Text 10"/>
          <p:cNvSpPr/>
          <p:nvPr/>
        </p:nvSpPr>
        <p:spPr>
          <a:xfrm>
            <a:off x="8725205" y="26974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Презентация линейки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932688" y="4480560"/>
            <a:ext cx="146304" cy="146304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15" name="Text 13"/>
          <p:cNvSpPr/>
          <p:nvPr/>
        </p:nvSpPr>
        <p:spPr>
          <a:xfrm>
            <a:off x="1207008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Чек-лист выбора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399178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91786" y="4480560"/>
            <a:ext cx="146304" cy="146304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18" name="Text 16"/>
          <p:cNvSpPr/>
          <p:nvPr/>
        </p:nvSpPr>
        <p:spPr>
          <a:xfrm>
            <a:off x="4966106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Посты о питании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158277" y="3977640"/>
            <a:ext cx="3393338" cy="1280160"/>
          </a:xfrm>
          <a:prstGeom prst="roundRect">
            <a:avLst>
              <a:gd name="adj" fmla="val 7143"/>
            </a:avLst>
          </a:prstGeom>
          <a:solidFill>
            <a:srgbClr val="F3F2F7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50885" y="4480560"/>
            <a:ext cx="146304" cy="146304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21" name="Text 19"/>
          <p:cNvSpPr/>
          <p:nvPr/>
        </p:nvSpPr>
        <p:spPr>
          <a:xfrm>
            <a:off x="8725205" y="4297680"/>
            <a:ext cx="25703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Рассылки подписки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РЕЗУЛЬТАТ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Что меняется в цифрах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640080" y="2377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E86A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+28%</a:t>
            </a:r>
            <a:endParaRPr lang="en-US" sz="3800" dirty="0"/>
          </a:p>
        </p:txBody>
      </p:sp>
      <p:sp>
        <p:nvSpPr>
          <p:cNvPr id="5" name="Text 3"/>
          <p:cNvSpPr/>
          <p:nvPr/>
        </p:nvSpPr>
        <p:spPr>
          <a:xfrm>
            <a:off x="3017520" y="2514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повторных покупок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3520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E86A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+45%</a:t>
            </a:r>
            <a:endParaRPr lang="en-US" sz="3800" dirty="0"/>
          </a:p>
        </p:txBody>
      </p:sp>
      <p:sp>
        <p:nvSpPr>
          <p:cNvPr id="7" name="Text 5"/>
          <p:cNvSpPr/>
          <p:nvPr/>
        </p:nvSpPr>
        <p:spPr>
          <a:xfrm>
            <a:off x="3017520" y="3657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вовлечение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40080" y="46634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800" b="1" dirty="0">
                <a:solidFill>
                  <a:srgbClr val="E86A1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×2</a:t>
            </a:r>
            <a:endParaRPr lang="en-US" sz="3800" dirty="0"/>
          </a:p>
        </p:txBody>
      </p:sp>
      <p:sp>
        <p:nvSpPr>
          <p:cNvPr id="9" name="Text 7"/>
          <p:cNvSpPr/>
          <p:nvPr/>
        </p:nvSpPr>
        <p:spPr>
          <a:xfrm>
            <a:off x="3017520" y="4800600"/>
            <a:ext cx="3017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 доверию (отзывы)</a:t>
            </a:r>
            <a:endParaRPr lang="en-US" sz="1500" dirty="0"/>
          </a:p>
        </p:txBody>
      </p:sp>
      <p:graphicFrame>
        <p:nvGraphicFramePr>
          <p:cNvPr id="10" name="Chart 0" descr=""/>
          <p:cNvGraphicFramePr/>
          <p:nvPr/>
        </p:nvGraphicFramePr>
        <p:xfrm>
          <a:off x="6309360" y="2148840"/>
          <a:ext cx="53035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3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6400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spc="300" kern="0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ЧТО ВХОДИТ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300" b="1" dirty="0">
                <a:solidFill>
                  <a:srgbClr val="16151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Пакет под запуск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640080" y="24688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4688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463040" y="24688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Лендинг бренда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40080" y="33832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33832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463040" y="33832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Презентация линейки кормов</a:t>
            </a:r>
            <a:endParaRPr lang="en-US" sz="1600" dirty="0"/>
          </a:p>
        </p:txBody>
      </p:sp>
      <p:sp>
        <p:nvSpPr>
          <p:cNvPr id="10" name="Shape 8"/>
          <p:cNvSpPr/>
          <p:nvPr/>
        </p:nvSpPr>
        <p:spPr>
          <a:xfrm>
            <a:off x="640080" y="42976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42976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463040" y="42976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Чек-лист выбора корма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5212080"/>
            <a:ext cx="10911535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4E2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21208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E86A1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463040" y="5212080"/>
            <a:ext cx="9601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6151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Контент-план для соцсетей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4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2103120"/>
            <a:ext cx="219456" cy="219456"/>
          </a:xfrm>
          <a:prstGeom prst="ellipse">
            <a:avLst/>
          </a:prstGeom>
          <a:solidFill>
            <a:srgbClr val="E86A17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50" b="1" spc="300" kern="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СТУДИЯ</a:t>
            </a:r>
            <a:pPr algn="l" indent="0" marL="0">
              <a:buNone/>
            </a:pPr>
            <a:r>
              <a:rPr lang="en-US" sz="105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Корма для животных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40080" y="2514600"/>
            <a:ext cx="10515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Забота, что возвращает покупателя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640080" y="42062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AFACB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Экспертный контент строит доверие к бренду.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640080" y="5029200"/>
            <a:ext cx="3108960" cy="685800"/>
          </a:xfrm>
          <a:prstGeom prst="roundRect">
            <a:avLst>
              <a:gd name="adj" fmla="val 13333"/>
            </a:avLst>
          </a:prstGeom>
          <a:solidFill>
            <a:srgbClr val="E86A17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5029200"/>
            <a:ext cx="31089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Обсудить контент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2026-08-16T17:19:52Z</dcterms:created>
  <dcterms:modified xsi:type="dcterms:W3CDTF">2026-08-16T17:19:52Z</dcterms:modified>
</cp:coreProperties>
</file>