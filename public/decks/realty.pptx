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Заходим с боли: объект висит месяцами и уходит в торг.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Простой = скрытая скидка. Это главный аргумент для собственника.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Планировка снимает половину вопросов и экономит показы.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Показываем воронку простыми словами.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вещи, которые собственник может сделать сегодня.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Быстрее — значит дороже: меньше торга и расходов на содержание.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Комплект материалов на объект — то, что реально ускоряет сделку.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Финал: призыв разобрать конкретный объект.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79204\AppData\Local\Temp\claude\D--QQQAAA\1af986dc-9216-4466-ab30-3032c2f138c7\scratchpad\deck\img\re-fac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594360"/>
            <a:ext cx="4617720" cy="56418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5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СТУДИЯ</a:t>
            </a:r>
            <a:pPr indent="0" marL="0">
              <a:buNone/>
            </a:pPr>
            <a:r>
              <a:rPr lang="en-US" sz="1000" dirty="0">
                <a:solidFill>
                  <a:srgbClr val="8C94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НЕДВИЖИМОСТЬ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7724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8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ГИД ДЛЯ АГЕНТСТВА И ЗАСТРОЙЩИКА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77240" y="192024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15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Ключи находят</a:t>
            </a:r>
            <a:endParaRPr lang="en-US" sz="5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15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хозяина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777240" y="40233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упаковать объект, чтобы он продавался неделями, а не месяцами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7240" y="5943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4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л. 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8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7043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5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Объект висит, а цена падает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2743200"/>
            <a:ext cx="3271418" cy="36576"/>
          </a:xfrm>
          <a:prstGeom prst="rect">
            <a:avLst/>
          </a:prstGeom>
          <a:solidFill>
            <a:srgbClr val="157A6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971800"/>
            <a:ext cx="32714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5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нед.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4023360"/>
            <a:ext cx="32714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срок продажи без упаковки объекта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60138" y="2743200"/>
            <a:ext cx="3271418" cy="36576"/>
          </a:xfrm>
          <a:prstGeom prst="rect">
            <a:avLst/>
          </a:prstGeom>
          <a:solidFill>
            <a:srgbClr val="157A6E"/>
          </a:solidFill>
          <a:ln/>
        </p:spPr>
      </p:sp>
      <p:sp>
        <p:nvSpPr>
          <p:cNvPr id="8" name="Text 6"/>
          <p:cNvSpPr/>
          <p:nvPr/>
        </p:nvSpPr>
        <p:spPr>
          <a:xfrm>
            <a:off x="4460138" y="2971800"/>
            <a:ext cx="32714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5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−7%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460138" y="4023360"/>
            <a:ext cx="32714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теряет цена за каждый месяц простоя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43037" y="2743200"/>
            <a:ext cx="3271418" cy="36576"/>
          </a:xfrm>
          <a:prstGeom prst="rect">
            <a:avLst/>
          </a:prstGeom>
          <a:solidFill>
            <a:srgbClr val="157A6E"/>
          </a:solidFill>
          <a:ln/>
        </p:spPr>
      </p:sp>
      <p:sp>
        <p:nvSpPr>
          <p:cNvPr id="11" name="Text 9"/>
          <p:cNvSpPr/>
          <p:nvPr/>
        </p:nvSpPr>
        <p:spPr>
          <a:xfrm>
            <a:off x="8143037" y="2971800"/>
            <a:ext cx="32714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5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143037" y="4023360"/>
            <a:ext cx="32714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покупателей отсеиваются ещё на фото и планировке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C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дольше объект в экспозиции, тем сильнее покупатель торгуется: «раз не берут — значит, что-то не так».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8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ПОКАЗЫВАЕМ ПОКУПАТЕЛЮ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70432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5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Планировка отвечает на вопросы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5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 звонка</a:t>
            </a:r>
            <a:endParaRPr lang="en-US" sz="3400" dirty="0"/>
          </a:p>
        </p:txBody>
      </p:sp>
      <p:pic>
        <p:nvPicPr>
          <p:cNvPr id="4" name="Image 0" descr="C:\Users\79204\AppData\Local\Temp\claude\D--QQQAAA\1af986dc-9216-4466-ab30-3032c2f138c7\scratchpad\deck\img\re-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417320"/>
            <a:ext cx="5532120" cy="4014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61288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Метраж по комнатам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161288" y="326440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поместится ли мебель и рабочее место.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61288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Стороны света и окна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161288" y="440740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Понятно, будет ли солнце вечером.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77240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61288" y="5166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Честные размеры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161288" y="555040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Размерные линии снимают недоверие к площади.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8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ПУТЬ ПОКУПАТЕЛЯ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7043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5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Четыре шага, на каждом из которых объект теряют</a:t>
            </a:r>
            <a:endParaRPr lang="en-US" sz="3600" dirty="0"/>
          </a:p>
        </p:txBody>
      </p:sp>
      <p:pic>
        <p:nvPicPr>
          <p:cNvPr id="4" name="Image 0" descr="C:\Users\79204\AppData\Local\Temp\claude\D--QQQAAA\1af986dc-9216-4466-ab30-3032c2f138c7\scratchpad\deck\img\re-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06040"/>
            <a:ext cx="11000232" cy="36941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РЕШАЕТ СДЕЛКУ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7043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Побеждает не самая дешёвая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квартира, а самый быстрый ответ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3520440"/>
            <a:ext cx="3271418" cy="17373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A4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3703320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B2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минут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97280" y="4343400"/>
            <a:ext cx="26313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D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первый ответ по объявлению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60138" y="3520440"/>
            <a:ext cx="3271418" cy="17373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A42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80178" y="3703320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B2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фото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780178" y="4343400"/>
            <a:ext cx="26313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D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которых ждёт покупатель: вид, кухня, санузел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143037" y="3520440"/>
            <a:ext cx="3271418" cy="17373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A42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3077" y="3703320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B2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документ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463077" y="4343400"/>
            <a:ext cx="26313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D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планировка с метражом в сообщении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8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70432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5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Срок продажи сокращается почти вдвое</a:t>
            </a:r>
            <a:endParaRPr lang="en-US" sz="3800" dirty="0"/>
          </a:p>
        </p:txBody>
      </p:sp>
      <p:pic>
        <p:nvPicPr>
          <p:cNvPr id="4" name="Image 0" descr="C:\Users\79204\AppData\Local\Temp\claude\D--QQQAAA\1af986dc-9216-4466-ab30-3032c2f138c7\scratchpad\deck\img\re-wee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737360"/>
            <a:ext cx="5486400" cy="35112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788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7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−42%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77240" y="339242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экспозиции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3977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7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+1,8%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77240" y="45811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финальной цене сделки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5166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7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×2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77240" y="576986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целевых показов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8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ВХОДИТ В УПАКОВКУ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70432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5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Комплект на один объект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2697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8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554480" y="2697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Планировка с метражом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0" y="273405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чертёж, который отправляют в мессенджер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3264408"/>
            <a:ext cx="10637215" cy="10973"/>
          </a:xfrm>
          <a:prstGeom prst="rect">
            <a:avLst/>
          </a:prstGeom>
          <a:solidFill>
            <a:srgbClr val="D9D5C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5661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8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35661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Карточка объекта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0" y="360273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описание, которое отвечает на вопросы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4133088"/>
            <a:ext cx="10637215" cy="10973"/>
          </a:xfrm>
          <a:prstGeom prst="rect">
            <a:avLst/>
          </a:prstGeom>
          <a:solidFill>
            <a:srgbClr val="D9D5C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4348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8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54480" y="4434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Лендинг объекта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0" y="44714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со всеми материалами и формой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7240" y="5001768"/>
            <a:ext cx="10637215" cy="10973"/>
          </a:xfrm>
          <a:prstGeom prst="rect">
            <a:avLst/>
          </a:prstGeom>
          <a:solidFill>
            <a:srgbClr val="D9D5C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303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8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5303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Сценарий показа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0" y="534009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говорить и в каком порядке показывать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7240" y="5870448"/>
            <a:ext cx="10637215" cy="10973"/>
          </a:xfrm>
          <a:prstGeom prst="rect">
            <a:avLst/>
          </a:prstGeom>
          <a:solidFill>
            <a:srgbClr val="D9D5CC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79204\AppData\Local\Temp\claude\D--QQQAAA\1af986dc-9216-4466-ab30-3032c2f138c7\scratchpad\deck\img\re-c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57600"/>
            <a:ext cx="12191695" cy="3200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3675888"/>
          </a:xfrm>
          <a:prstGeom prst="rect">
            <a:avLst/>
          </a:prstGeom>
          <a:solidFill>
            <a:srgbClr val="F7F5F1"/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57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СТУДИЯ</a:t>
            </a:r>
            <a:pPr indent="0" marL="0">
              <a:buNone/>
            </a:pPr>
            <a:r>
              <a:rPr lang="en-US" sz="1000" dirty="0">
                <a:solidFill>
                  <a:srgbClr val="8C94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НЕДВИЖИМОСТЬ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7724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08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СЛЕДУЮЩИЙ ШАГ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1719072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5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Упакуйте объект —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5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 он продаст себя сам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8229600" y="2011680"/>
            <a:ext cx="3291840" cy="731520"/>
          </a:xfrm>
          <a:prstGeom prst="rect">
            <a:avLst/>
          </a:prstGeom>
          <a:solidFill>
            <a:srgbClr val="157A6E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2011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Разобрать мой объект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94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Демо-материал портфолио · бренд вымышленный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Ключи находят хозяина</dc:title>
  <dc:subject>PptxGenJS Presentation</dc:subject>
  <dc:creator>Студия</dc:creator>
  <cp:lastModifiedBy>Студия</cp:lastModifiedBy>
  <cp:revision>1</cp:revision>
  <dcterms:created xsi:type="dcterms:W3CDTF">2026-08-17T14:04:57Z</dcterms:created>
  <dcterms:modified xsi:type="dcterms:W3CDTF">2026-08-17T14:04:57Z</dcterms:modified>
</cp:coreProperties>
</file>