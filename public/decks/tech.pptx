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Боль: покупатель держит открытыми 4 вкладки и не понимает разницы.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Смещаем фокус с цены на понятность.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Разбираем карточку по элементам.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уровня и рекомендация — покупатель выбирает быстрее.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Контент вокруг товара снимает возражения без менеджера.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Понятная карточка = меньше возвратов и выше чек.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Комплект, который закрывает карточки всего каталога.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Финал: призыв разобрать каталог.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79204\AppData\Local\Temp\claude\D--QQQAAA\1af986dc-9216-4466-ab30-3032c2f138c7\scratchpad\deck\img\el-devi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36792" y="960120"/>
            <a:ext cx="5120640" cy="426750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СТУДИЯ</a:t>
            </a:r>
            <a:pPr indent="0" marL="0">
              <a:buNone/>
            </a:pPr>
            <a:r>
              <a:rPr lang="en-US" sz="1000" dirty="0">
                <a:solidFill>
                  <a:srgbClr val="7A8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ЭЛЕКТРОНИКА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31520" y="1371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6B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ГИД ДЛЯ МАГАЗИНА ТЕХНИКИ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731520" y="173736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Карточка,</a:t>
            </a:r>
            <a:endParaRPr lang="en-US" sz="44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которая продаёт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31520" y="41605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6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объяснить характеристики так, чтобы покупатель перестал сравнивать вкладки и нажал «в корзину»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539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ПРОБЛЕМА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E11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Характеристики есть — понимания нет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651760"/>
            <a:ext cx="3301898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926080"/>
            <a:ext cx="26618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B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вкладки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051560" y="3886200"/>
            <a:ext cx="26618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держит открытыми покупатель перед выбором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44898" y="2651760"/>
            <a:ext cx="3301898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64938" y="2926080"/>
            <a:ext cx="26618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539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764938" y="3886200"/>
            <a:ext cx="26618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решают по карточке, а не по рекламе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58277" y="2651760"/>
            <a:ext cx="3301898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8317" y="2926080"/>
            <a:ext cx="26618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11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−20%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478317" y="3886200"/>
            <a:ext cx="26618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конверсия у карточек без сравнения и описаний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1520" y="54864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86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Магазин конкурирует не ценой, а понятностью: выигрывает тот, кто объяснил разницу за 30 секунд.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B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АНАТОМИЯ КАРТОЧКИ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E11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должно быть на экране сразу</a:t>
            </a:r>
            <a:endParaRPr lang="en-US" sz="3200" dirty="0"/>
          </a:p>
        </p:txBody>
      </p:sp>
      <p:pic>
        <p:nvPicPr>
          <p:cNvPr id="4" name="Image 0" descr="C:\Users\79204\AppData\Local\Temp\claude\D--QQQAAA\1af986dc-9216-4466-ab30-3032c2f138c7\scratchpad\deck\img\el-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9464" y="2148840"/>
            <a:ext cx="7050024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B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КАК ПОМОГАЕМ ВЫБРАТЬ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E11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Сравнение вместо списка характеристик</a:t>
            </a:r>
            <a:endParaRPr lang="en-US" sz="3200" dirty="0"/>
          </a:p>
        </p:txBody>
      </p:sp>
      <p:pic>
        <p:nvPicPr>
          <p:cNvPr id="4" name="Image 0" descr="C:\Users\79204\AppData\Local\Temp\claude\D--QQQAAA\1af986dc-9216-4466-ab30-3032c2f138c7\scratchpad\deck\img\el-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5144" y="2148840"/>
            <a:ext cx="7598664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6B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КОНТЕНТ ВОКРУГ ТОВАРА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закрывает сомнения до заказа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377440"/>
            <a:ext cx="5158588" cy="1554480"/>
          </a:xfrm>
          <a:prstGeom prst="rect">
            <a:avLst/>
          </a:prstGeom>
          <a:solidFill>
            <a:srgbClr val="171C24"/>
          </a:solidFill>
          <a:ln w="12700">
            <a:solidFill>
              <a:srgbClr val="2832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6517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783080" y="2633472"/>
            <a:ext cx="3786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Обзор в деле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83080" y="3090672"/>
            <a:ext cx="37869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B6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гаджет ведёт себя в реальных сценариях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301588" y="2377440"/>
            <a:ext cx="5158588" cy="1554480"/>
          </a:xfrm>
          <a:prstGeom prst="rect">
            <a:avLst/>
          </a:prstGeom>
          <a:solidFill>
            <a:srgbClr val="171C24"/>
          </a:solidFill>
          <a:ln w="12700">
            <a:solidFill>
              <a:srgbClr val="283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21628" y="26517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53148" y="2633472"/>
            <a:ext cx="3786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Подборки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353148" y="3090672"/>
            <a:ext cx="37869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B6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«для учёбы», «в дорогу», «для съёмки»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5158588" cy="1554480"/>
          </a:xfrm>
          <a:prstGeom prst="rect">
            <a:avLst/>
          </a:prstGeom>
          <a:solidFill>
            <a:srgbClr val="171C24"/>
          </a:solidFill>
          <a:ln w="12700">
            <a:solidFill>
              <a:srgbClr val="2832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44348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783080" y="4416552"/>
            <a:ext cx="3786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Ответы на вопросы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783080" y="4873752"/>
            <a:ext cx="37869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B6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частые сомнения — прямо в карточке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301588" y="4160520"/>
            <a:ext cx="5158588" cy="1554480"/>
          </a:xfrm>
          <a:prstGeom prst="rect">
            <a:avLst/>
          </a:prstGeom>
          <a:solidFill>
            <a:srgbClr val="171C24"/>
          </a:solidFill>
          <a:ln w="12700">
            <a:solidFill>
              <a:srgbClr val="2832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21628" y="44348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53148" y="4416552"/>
            <a:ext cx="3786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Отзывы с деталями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53148" y="4873752"/>
            <a:ext cx="37869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B6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покупателей и срок использования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539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РЕЗУЛЬТАТ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0E11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меняется в цифрах</a:t>
            </a:r>
            <a:endParaRPr lang="en-US" sz="3400" dirty="0"/>
          </a:p>
        </p:txBody>
      </p:sp>
      <p:pic>
        <p:nvPicPr>
          <p:cNvPr id="4" name="Image 0" descr="C:\Users\79204\AppData\Local\Temp\claude\D--QQQAAA\1af986dc-9216-4466-ab30-3032c2f138c7\scratchpad\deck\img\el-conver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2011680"/>
            <a:ext cx="5394960" cy="334487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26517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B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+74%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31520" y="331012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конверсия карточки в заказ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31520" y="38862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539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−15%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731520" y="454456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возвратов из-за ожиданий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51206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11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+28%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731520" y="577900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 среднему чеку с допами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B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ЧТО ВХОДИТ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E11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Комплект для карточек магазина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25146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539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463040" y="2514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1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Шаблон карточки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035040" y="25420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структура, которая работает для любой категории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3099816"/>
            <a:ext cx="10728655" cy="12802"/>
          </a:xfrm>
          <a:prstGeom prst="rect">
            <a:avLst/>
          </a:prstGeom>
          <a:solidFill>
            <a:srgbClr val="DDE3EA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447288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539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63040" y="344728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1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Тексты на 10 позиций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035040" y="34747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описания и три ключевые характеристики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4032504"/>
            <a:ext cx="10728655" cy="12802"/>
          </a:xfrm>
          <a:prstGeom prst="rect">
            <a:avLst/>
          </a:prstGeom>
          <a:solidFill>
            <a:srgbClr val="DDE3E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437997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539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63040" y="4379976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1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Таблицы сравнения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035040" y="440740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линейкам и ценовым уровням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4965192"/>
            <a:ext cx="10728655" cy="12802"/>
          </a:xfrm>
          <a:prstGeom prst="rect">
            <a:avLst/>
          </a:prstGeom>
          <a:solidFill>
            <a:srgbClr val="DDE3EA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5312664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539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463040" y="531266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1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Контент-план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035040" y="534009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обзоры, подборки и ответы на вопросы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31520" y="5897880"/>
            <a:ext cx="10728655" cy="12802"/>
          </a:xfrm>
          <a:prstGeom prst="rect">
            <a:avLst/>
          </a:prstGeom>
          <a:solidFill>
            <a:srgbClr val="DDE3EA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79204\AppData\Local\Temp\claude\D--QQQAAA\1af986dc-9216-4466-ab30-3032c2f138c7\scratchpad\deck\img\el-b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657600"/>
            <a:ext cx="12191695" cy="32004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3675888"/>
          </a:xfrm>
          <a:prstGeom prst="rect">
            <a:avLst/>
          </a:prstGeom>
          <a:solidFill>
            <a:srgbClr val="0E1116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СТУДИЯ</a:t>
            </a:r>
            <a:pPr indent="0" marL="0">
              <a:buNone/>
            </a:pPr>
            <a:r>
              <a:rPr lang="en-US" sz="1000" dirty="0">
                <a:solidFill>
                  <a:srgbClr val="7A8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ЭЛЕКТРОНИКА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731520" y="1325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6B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СЛЕДУЮЩИЙ ШАГ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731520" y="1691640"/>
            <a:ext cx="6766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Пусть карточка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объясняет за вас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8229600" y="2011680"/>
            <a:ext cx="3291840" cy="731520"/>
          </a:xfrm>
          <a:prstGeom prst="rect">
            <a:avLst/>
          </a:prstGeom>
          <a:solidFill>
            <a:srgbClr val="E5399E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0" y="20116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Разобрать мой каталог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0" y="2834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8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Демо-материал портфолио · бренд вымышленный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Карточка, которая продаёт</dc:title>
  <dc:subject>PptxGenJS Presentation</dc:subject>
  <dc:creator>Студия</dc:creator>
  <cp:lastModifiedBy>Студия</cp:lastModifiedBy>
  <cp:revision>1</cp:revision>
  <dcterms:created xsi:type="dcterms:W3CDTF">2026-08-17T14:31:46Z</dcterms:created>
  <dcterms:modified xsi:type="dcterms:W3CDTF">2026-08-17T14:31:46Z</dcterms:modified>
</cp:coreProperties>
</file>